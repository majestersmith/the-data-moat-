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Outfit"/>
      <p:regular r:id="rId19"/>
    </p:embeddedFont>
    <p:embeddedFont>
      <p:font typeface="Outfit"/>
      <p:regular r:id="rId20"/>
    </p:embeddedFont>
    <p:embeddedFont>
      <p:font typeface="Bitter"/>
      <p:regular r:id="rId21"/>
    </p:embeddedFont>
    <p:embeddedFont>
      <p:font typeface="Bitter"/>
      <p:regular r:id="rId22"/>
    </p:embeddedFont>
    <p:embeddedFont>
      <p:font typeface="Bitter"/>
      <p:regular r:id="rId23"/>
    </p:embeddedFont>
    <p:embeddedFont>
      <p:font typeface="Bit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3B3C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290" y="818555"/>
            <a:ext cx="2629793" cy="3506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9940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Data Moat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45499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Strategic Frameworks for Startup Disruption in an Incumbent-Dominant AI Economy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072854"/>
            <a:ext cx="1630784" cy="266402"/>
          </a:xfrm>
          <a:prstGeom prst="roundRect">
            <a:avLst>
              <a:gd name="adj" fmla="val 6386"/>
            </a:avLst>
          </a:prstGeom>
          <a:solidFill>
            <a:srgbClr val="2A2C20"/>
          </a:solidFill>
          <a:ln/>
        </p:spPr>
      </p:sp>
      <p:sp>
        <p:nvSpPr>
          <p:cNvPr id="7" name="Text 4"/>
          <p:cNvSpPr/>
          <p:nvPr/>
        </p:nvSpPr>
        <p:spPr>
          <a:xfrm>
            <a:off x="581174" y="3115345"/>
            <a:ext cx="191787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DEEP RESEARCH ANALYSIS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197745" y="3068092"/>
            <a:ext cx="873919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9FA5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7563" y="3115345"/>
            <a:ext cx="11514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AI STRATEGY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409277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Is a Data Moat?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043583"/>
            <a:ext cx="8244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 moat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is a competitive advantage that gets stronger as a company collects, structures, and learns from more data. Over time, that data improves the product, sharpens decision-making, and makes it harder for competitors to catch up.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9610" y="1610023"/>
            <a:ext cx="3026718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49610" y="2105769"/>
            <a:ext cx="8244780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Better data leads to better models, recommendations, and customer experiences</a:t>
            </a:r>
            <a:endParaRPr lang="en-US" sz="100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More usage creates more data, which improves the product even further</a:t>
            </a:r>
            <a:endParaRPr lang="en-US" sz="100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result is a reinforcing loop that can increase quality, speed, and defensibility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610" y="2949550"/>
            <a:ext cx="5452988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How it differs from traditional advantages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9610" y="3445297"/>
            <a:ext cx="8244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Traditional moats often come from things like brand, patents, switching costs, or scale. A data moat is different because it is built on </a:t>
            </a:r>
            <a:pPr algn="l" indent="0" marL="0">
              <a:lnSpc>
                <a:spcPct val="127000"/>
              </a:lnSpc>
              <a:buNone/>
            </a:pPr>
            <a:r>
              <a:rPr lang="en-US" sz="100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learning velocity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—the ability to turn real-world usage into continuous improvement.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9610" y="3968130"/>
            <a:ext cx="8244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Unlike a static advantage, a data moat can compound. The more unique and relevant the data, the harder it is for a new entrant to replicate the same performance, even with similar technology.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9610" y="4495726"/>
            <a:ext cx="1437084" cy="233660"/>
          </a:xfrm>
          <a:prstGeom prst="roundRect">
            <a:avLst>
              <a:gd name="adj" fmla="val 6598"/>
            </a:avLst>
          </a:prstGeom>
          <a:solidFill>
            <a:srgbClr val="2A2C20"/>
          </a:solidFill>
          <a:ln/>
        </p:spPr>
      </p:sp>
      <p:sp>
        <p:nvSpPr>
          <p:cNvPr id="10" name="Text 8"/>
          <p:cNvSpPr/>
          <p:nvPr/>
        </p:nvSpPr>
        <p:spPr>
          <a:xfrm>
            <a:off x="526628" y="4534198"/>
            <a:ext cx="1740247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INTRODUCTORY CONCEPT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50913" y="4490963"/>
            <a:ext cx="1645667" cy="243185"/>
          </a:xfrm>
          <a:prstGeom prst="roundRect">
            <a:avLst>
              <a:gd name="adj" fmla="val 6340"/>
            </a:avLst>
          </a:prstGeom>
          <a:noFill/>
          <a:ln w="4763">
            <a:solidFill>
              <a:srgbClr val="9FA5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2695" y="4534198"/>
            <a:ext cx="1939305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FOUNDATIONAL FRAMEWORK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55550"/>
            <a:ext cx="5510585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From Economic Moats to Data Moats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219" y="994172"/>
            <a:ext cx="2698998" cy="2698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40832" y="2167310"/>
            <a:ext cx="52625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Warren Buffett's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economic moat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brand, scale, regulatory licenses — has evolved into the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 moat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: exclusive data a firm gathers to improve products in ways competitors cannot replicate.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45219" y="3920133"/>
            <a:ext cx="2683892" cy="867817"/>
          </a:xfrm>
          <a:prstGeom prst="roundRect">
            <a:avLst>
              <a:gd name="adj" fmla="val 7903"/>
            </a:avLst>
          </a:prstGeom>
          <a:solidFill>
            <a:srgbClr val="1C1D1F"/>
          </a:solidFill>
          <a:ln w="14288">
            <a:solidFill>
              <a:srgbClr val="5455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0932" y="3920133"/>
            <a:ext cx="57150" cy="867817"/>
          </a:xfrm>
          <a:prstGeom prst="roundRect">
            <a:avLst>
              <a:gd name="adj" fmla="val 31395"/>
            </a:avLst>
          </a:prstGeom>
          <a:solidFill>
            <a:srgbClr val="9FA582"/>
          </a:solidFill>
          <a:ln/>
        </p:spPr>
      </p:sp>
      <p:sp>
        <p:nvSpPr>
          <p:cNvPr id="7" name="Text 4"/>
          <p:cNvSpPr/>
          <p:nvPr/>
        </p:nvSpPr>
        <p:spPr>
          <a:xfrm>
            <a:off x="621953" y="4054004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Resource-Based View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1953" y="4301356"/>
            <a:ext cx="237328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Proprietary data as a unique, inimitable strategic resource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30017" y="3920133"/>
            <a:ext cx="2683892" cy="867817"/>
          </a:xfrm>
          <a:prstGeom prst="roundRect">
            <a:avLst>
              <a:gd name="adj" fmla="val 7903"/>
            </a:avLst>
          </a:prstGeom>
          <a:solidFill>
            <a:srgbClr val="1C1D1F"/>
          </a:solidFill>
          <a:ln w="14288">
            <a:solidFill>
              <a:srgbClr val="5455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15729" y="3920133"/>
            <a:ext cx="57150" cy="867817"/>
          </a:xfrm>
          <a:prstGeom prst="roundRect">
            <a:avLst>
              <a:gd name="adj" fmla="val 31395"/>
            </a:avLst>
          </a:prstGeom>
          <a:solidFill>
            <a:srgbClr val="9FA582"/>
          </a:solidFill>
          <a:ln/>
        </p:spPr>
      </p:sp>
      <p:sp>
        <p:nvSpPr>
          <p:cNvPr id="11" name="Text 8"/>
          <p:cNvSpPr/>
          <p:nvPr/>
        </p:nvSpPr>
        <p:spPr>
          <a:xfrm>
            <a:off x="3406750" y="4054004"/>
            <a:ext cx="19562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 Network Effects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406750" y="4301356"/>
            <a:ext cx="237328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More users → more data → better products → more users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14814" y="3920133"/>
            <a:ext cx="2683892" cy="867817"/>
          </a:xfrm>
          <a:prstGeom prst="roundRect">
            <a:avLst>
              <a:gd name="adj" fmla="val 7903"/>
            </a:avLst>
          </a:prstGeom>
          <a:solidFill>
            <a:srgbClr val="1C1D1F"/>
          </a:solidFill>
          <a:ln w="14288">
            <a:solidFill>
              <a:srgbClr val="5455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00527" y="3920133"/>
            <a:ext cx="57150" cy="867817"/>
          </a:xfrm>
          <a:prstGeom prst="roundRect">
            <a:avLst>
              <a:gd name="adj" fmla="val 31395"/>
            </a:avLst>
          </a:prstGeom>
          <a:solidFill>
            <a:srgbClr val="9FA582"/>
          </a:solidFill>
          <a:ln/>
        </p:spPr>
      </p:sp>
      <p:sp>
        <p:nvSpPr>
          <p:cNvPr id="15" name="Text 12"/>
          <p:cNvSpPr/>
          <p:nvPr/>
        </p:nvSpPr>
        <p:spPr>
          <a:xfrm>
            <a:off x="6191548" y="4054004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Dynamic Capabilities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191548" y="4301356"/>
            <a:ext cx="237328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 acquisition, processing, and operationalization as core competencies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219" y="347142"/>
            <a:ext cx="1339081" cy="212824"/>
          </a:xfrm>
          <a:prstGeom prst="roundRect">
            <a:avLst>
              <a:gd name="adj" fmla="val 6745"/>
            </a:avLst>
          </a:prstGeom>
          <a:solidFill>
            <a:srgbClr val="2A2C20"/>
          </a:solidFill>
          <a:ln/>
        </p:spPr>
      </p:sp>
      <p:sp>
        <p:nvSpPr>
          <p:cNvPr id="3" name="Text 1"/>
          <p:cNvSpPr/>
          <p:nvPr/>
        </p:nvSpPr>
        <p:spPr>
          <a:xfrm>
            <a:off x="516954" y="383009"/>
            <a:ext cx="1652811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STRATEGIC FRAMEWORKS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5219" y="600298"/>
            <a:ext cx="8348365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Bessemer's "Good, Better, Best" &amp; Progressive Delegation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45219" y="1226344"/>
            <a:ext cx="2740149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Good → Better → Best Progression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4803" y="1706091"/>
            <a:ext cx="119583" cy="538163"/>
          </a:xfrm>
          <a:prstGeom prst="roundRect">
            <a:avLst>
              <a:gd name="adj" fmla="val 15004"/>
            </a:avLst>
          </a:prstGeom>
          <a:solidFill>
            <a:srgbClr val="3B3C3E"/>
          </a:solidFill>
          <a:ln/>
        </p:spPr>
      </p:sp>
      <p:sp>
        <p:nvSpPr>
          <p:cNvPr id="7" name="Shape 5"/>
          <p:cNvSpPr/>
          <p:nvPr/>
        </p:nvSpPr>
        <p:spPr>
          <a:xfrm>
            <a:off x="445219" y="1627584"/>
            <a:ext cx="358825" cy="358825"/>
          </a:xfrm>
          <a:prstGeom prst="roundRect">
            <a:avLst>
              <a:gd name="adj" fmla="val 79635"/>
            </a:avLst>
          </a:prstGeom>
          <a:solidFill>
            <a:srgbClr val="3B3C3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4888" y="1717328"/>
            <a:ext cx="179412" cy="1794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4949" y="1646262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Good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04949" y="1934021"/>
            <a:ext cx="39782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Demo-friendly feature; execution speed as moat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44215" y="2524646"/>
            <a:ext cx="119583" cy="538163"/>
          </a:xfrm>
          <a:prstGeom prst="roundRect">
            <a:avLst>
              <a:gd name="adj" fmla="val 15004"/>
            </a:avLst>
          </a:prstGeom>
          <a:solidFill>
            <a:srgbClr val="3B3C3E"/>
          </a:solidFill>
          <a:ln/>
        </p:spPr>
      </p:sp>
      <p:sp>
        <p:nvSpPr>
          <p:cNvPr id="12" name="Shape 9"/>
          <p:cNvSpPr/>
          <p:nvPr/>
        </p:nvSpPr>
        <p:spPr>
          <a:xfrm>
            <a:off x="624632" y="2446139"/>
            <a:ext cx="358825" cy="358825"/>
          </a:xfrm>
          <a:prstGeom prst="roundRect">
            <a:avLst>
              <a:gd name="adj" fmla="val 79635"/>
            </a:avLst>
          </a:prstGeom>
          <a:solidFill>
            <a:srgbClr val="3B3C3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301" y="2535882"/>
            <a:ext cx="179412" cy="1794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84362" y="2464817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Better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084362" y="2752576"/>
            <a:ext cx="379883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Core workflow ROI; early/weak data moat forming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923627" y="3343201"/>
            <a:ext cx="119583" cy="700162"/>
          </a:xfrm>
          <a:prstGeom prst="roundRect">
            <a:avLst>
              <a:gd name="adj" fmla="val 15004"/>
            </a:avLst>
          </a:prstGeom>
          <a:solidFill>
            <a:srgbClr val="3B3C3E"/>
          </a:solidFill>
          <a:ln/>
        </p:spPr>
      </p:sp>
      <p:sp>
        <p:nvSpPr>
          <p:cNvPr id="17" name="Shape 13"/>
          <p:cNvSpPr/>
          <p:nvPr/>
        </p:nvSpPr>
        <p:spPr>
          <a:xfrm>
            <a:off x="804044" y="3264694"/>
            <a:ext cx="358825" cy="358825"/>
          </a:xfrm>
          <a:prstGeom prst="roundRect">
            <a:avLst>
              <a:gd name="adj" fmla="val 79635"/>
            </a:avLst>
          </a:prstGeom>
          <a:solidFill>
            <a:srgbClr val="3B3C3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713" y="3354437"/>
            <a:ext cx="179412" cy="1794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63774" y="3283372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Best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263774" y="3571131"/>
            <a:ext cx="316222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End-to-end "LLM magic"; true moat via data + multimodality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722614" y="1226344"/>
            <a:ext cx="349545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Progressive Delegation: Build While You Ship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722614" y="1526679"/>
            <a:ext cx="269081" cy="269081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23" name="Text 18"/>
          <p:cNvSpPr/>
          <p:nvPr/>
        </p:nvSpPr>
        <p:spPr>
          <a:xfrm>
            <a:off x="4538849" y="1549115"/>
            <a:ext cx="4080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092601" y="1567755"/>
            <a:ext cx="3610794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Automate a manageable, low-risk workflow segment first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722614" y="2143274"/>
            <a:ext cx="269081" cy="269081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26" name="Text 21"/>
          <p:cNvSpPr/>
          <p:nvPr/>
        </p:nvSpPr>
        <p:spPr>
          <a:xfrm>
            <a:off x="4538849" y="2165710"/>
            <a:ext cx="4080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092601" y="2184350"/>
            <a:ext cx="385464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Keep humans in the loop for high-stakes decisions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4722614" y="2614166"/>
            <a:ext cx="269081" cy="269081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29" name="Text 24"/>
          <p:cNvSpPr/>
          <p:nvPr/>
        </p:nvSpPr>
        <p:spPr>
          <a:xfrm>
            <a:off x="4538849" y="2636602"/>
            <a:ext cx="4080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092601" y="2655243"/>
            <a:ext cx="3610794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Standardize remaining manual steps for future automation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4722614" y="3230761"/>
            <a:ext cx="269081" cy="269081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32" name="Text 27"/>
          <p:cNvSpPr/>
          <p:nvPr/>
        </p:nvSpPr>
        <p:spPr>
          <a:xfrm>
            <a:off x="4538849" y="3253197"/>
            <a:ext cx="4080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5092601" y="3271838"/>
            <a:ext cx="3610794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Expand as reliability is proven — creating expansion revenue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4722614" y="3759026"/>
            <a:ext cx="3980780" cy="634008"/>
          </a:xfrm>
          <a:prstGeom prst="roundRect">
            <a:avLst>
              <a:gd name="adj" fmla="val 2830"/>
            </a:avLst>
          </a:prstGeom>
          <a:solidFill>
            <a:srgbClr val="022349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2197" y="3927574"/>
            <a:ext cx="149498" cy="11958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111279" y="3889772"/>
            <a:ext cx="347253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Each user interaction accumulates proprietary, workflow-specific data competitors cannot access.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45219" y="4619997"/>
            <a:ext cx="869878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3B3C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4658" y="803225"/>
            <a:ext cx="2652787" cy="353704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95362" y="337319"/>
            <a:ext cx="668834" cy="197644"/>
          </a:xfrm>
          <a:prstGeom prst="roundRect">
            <a:avLst>
              <a:gd name="adj" fmla="val 6859"/>
            </a:avLst>
          </a:prstGeom>
          <a:solidFill>
            <a:srgbClr val="2A2C20"/>
          </a:solidFill>
          <a:ln/>
        </p:spPr>
      </p:sp>
      <p:sp>
        <p:nvSpPr>
          <p:cNvPr id="5" name="Text 2"/>
          <p:cNvSpPr/>
          <p:nvPr/>
        </p:nvSpPr>
        <p:spPr>
          <a:xfrm>
            <a:off x="463079" y="371177"/>
            <a:ext cx="990600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CASE STUDY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95362" y="570905"/>
            <a:ext cx="4924276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Abridge: Healthcare Documentation AI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95362" y="1411784"/>
            <a:ext cx="4924276" cy="781124"/>
          </a:xfrm>
          <a:prstGeom prst="roundRect">
            <a:avLst>
              <a:gd name="adj" fmla="val 2169"/>
            </a:avLst>
          </a:prstGeom>
          <a:solidFill>
            <a:srgbClr val="3B3C3E"/>
          </a:solidFill>
          <a:ln/>
        </p:spPr>
      </p:sp>
      <p:sp>
        <p:nvSpPr>
          <p:cNvPr id="8" name="Text 5"/>
          <p:cNvSpPr/>
          <p:nvPr/>
        </p:nvSpPr>
        <p:spPr>
          <a:xfrm>
            <a:off x="508322" y="1524744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Medically-Tuned ASR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8322" y="1755204"/>
            <a:ext cx="4698355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Specialized speech recognition for medical terminology and ambient noise — a proprietary data layer general models cannot replicate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5362" y="2282875"/>
            <a:ext cx="4924276" cy="781124"/>
          </a:xfrm>
          <a:prstGeom prst="roundRect">
            <a:avLst>
              <a:gd name="adj" fmla="val 2169"/>
            </a:avLst>
          </a:prstGeom>
          <a:solidFill>
            <a:srgbClr val="3B3C3E"/>
          </a:solidFill>
          <a:ln/>
        </p:spPr>
      </p:sp>
      <p:sp>
        <p:nvSpPr>
          <p:cNvPr id="11" name="Text 8"/>
          <p:cNvSpPr/>
          <p:nvPr/>
        </p:nvSpPr>
        <p:spPr>
          <a:xfrm>
            <a:off x="508322" y="2395835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Linked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8322" y="2626296"/>
            <a:ext cx="4698355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Clinicians highlight notes to surface transcript evidence — creating a closed-loop feedback system that compounds model accuracy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5362" y="3153966"/>
            <a:ext cx="4924276" cy="781124"/>
          </a:xfrm>
          <a:prstGeom prst="roundRect">
            <a:avLst>
              <a:gd name="adj" fmla="val 2169"/>
            </a:avLst>
          </a:prstGeom>
          <a:solidFill>
            <a:srgbClr val="3B3C3E"/>
          </a:solidFill>
          <a:ln/>
        </p:spPr>
      </p:sp>
      <p:sp>
        <p:nvSpPr>
          <p:cNvPr id="14" name="Text 11"/>
          <p:cNvSpPr/>
          <p:nvPr/>
        </p:nvSpPr>
        <p:spPr>
          <a:xfrm>
            <a:off x="508322" y="3266926"/>
            <a:ext cx="237462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Ethnographic Data Collection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8322" y="3497387"/>
            <a:ext cx="4698355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Engineers "shadow" clinicians at Mayo Clinic to capture real-world data gaps and inform model development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95362" y="4025057"/>
            <a:ext cx="4924276" cy="781124"/>
          </a:xfrm>
          <a:prstGeom prst="roundRect">
            <a:avLst>
              <a:gd name="adj" fmla="val 2169"/>
            </a:avLst>
          </a:prstGeom>
          <a:solidFill>
            <a:srgbClr val="3B3C3E"/>
          </a:solidFill>
          <a:ln/>
        </p:spPr>
      </p:sp>
      <p:sp>
        <p:nvSpPr>
          <p:cNvPr id="17" name="Text 14"/>
          <p:cNvSpPr/>
          <p:nvPr/>
        </p:nvSpPr>
        <p:spPr>
          <a:xfrm>
            <a:off x="508322" y="4138017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Epic EHR Integration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8322" y="4368478"/>
            <a:ext cx="4698355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Deep embedding into Epic's platform creates significant workflow switching costs — a "trust moat" alongside the technical data moat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5162" y="408831"/>
            <a:ext cx="786780" cy="244376"/>
          </a:xfrm>
          <a:prstGeom prst="roundRect">
            <a:avLst>
              <a:gd name="adj" fmla="val 6526"/>
            </a:avLst>
          </a:prstGeom>
          <a:solidFill>
            <a:srgbClr val="2A2C20"/>
          </a:solidFill>
          <a:ln/>
        </p:spPr>
      </p:sp>
      <p:sp>
        <p:nvSpPr>
          <p:cNvPr id="3" name="Text 1"/>
          <p:cNvSpPr/>
          <p:nvPr/>
        </p:nvSpPr>
        <p:spPr>
          <a:xfrm>
            <a:off x="544860" y="448642"/>
            <a:ext cx="1084585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CASE STUDY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5162" y="702990"/>
            <a:ext cx="6498654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EvenUp &amp; Fieldguide: Legal and Audit AI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162" y="1687860"/>
            <a:ext cx="2664023" cy="2664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58096" y="1429717"/>
            <a:ext cx="389118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EvenUp — $2B Valuation, Personal Injury Law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58096" y="1761976"/>
            <a:ext cx="522543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Three-layer architecture: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System of Record (structured case memory) → System of Intelligence (demand letter drafting) → System of Action (proactive recommendations).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58096" y="2491978"/>
            <a:ext cx="522543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Core asset: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Settlement Repository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anonymized outcomes from 2,000+ U.S. law firms, 200,000+ cases, $10B+ in damages. Demands are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69% more likely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to achieve policy limit settlements.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58096" y="3283223"/>
            <a:ext cx="5225430" cy="9897"/>
          </a:xfrm>
          <a:prstGeom prst="rect">
            <a:avLst/>
          </a:prstGeom>
          <a:solidFill>
            <a:srgbClr val="C2C4B5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458096" y="3466430"/>
            <a:ext cx="321267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Fieldguide — Agentic AI OS for Audit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58096" y="3798689"/>
            <a:ext cx="522543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Multi-model routing with chain-of-thought reasoning. Testing Agent achieves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98% accuracy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vs. 54% human and 90% GPT-4, operating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94% faster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Corpus: 20,000 audits across 80 engagement types. Users average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 hours of daily active engagement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84349"/>
            <a:ext cx="55132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Technical Implementation Patterns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003771"/>
            <a:ext cx="870212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Four patterns emerge consistently across successful vertical AI data moats.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871" y="1321222"/>
            <a:ext cx="315590" cy="3155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1871" y="1777305"/>
            <a:ext cx="252814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Multimodal Data Integration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41871" y="2041996"/>
            <a:ext cx="405988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Combine text, audio, images, and sensor data for richer, harder-to-replicate training datasets (Abridge: voice + EHR; EvenUp: PDFs + accident diagrams via reinforcement learning)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247" y="1321222"/>
            <a:ext cx="315590" cy="3155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2247" y="1777305"/>
            <a:ext cx="275763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Closed-Loop Feedback Systems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42247" y="2041996"/>
            <a:ext cx="405988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User corrections and interactions feed directly back into model improvement — turning product usage into proprietary training data that compounds over time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871" y="2839715"/>
            <a:ext cx="315590" cy="3155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1871" y="3295799"/>
            <a:ext cx="261944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Domain-Specific Architecture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41871" y="3560490"/>
            <a:ext cx="405988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Specialized technical stacks tailored to vertical requirements — not relying solely on general-purpose LLMs. Fine-tune powerful base models on proprietary workflow data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247" y="2839715"/>
            <a:ext cx="315590" cy="3155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2247" y="3295799"/>
            <a:ext cx="262562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Modular &amp; Adaptable Systems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42247" y="3560490"/>
            <a:ext cx="405988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Infrastructure flexible enough to swap in better AI models as technology evolves, without discarding proprietary data and workflow integrations already accumulated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41871" y="4259833"/>
            <a:ext cx="8260259" cy="499244"/>
          </a:xfrm>
          <a:prstGeom prst="roundRect">
            <a:avLst>
              <a:gd name="adj" fmla="val 3794"/>
            </a:avLst>
          </a:prstGeom>
          <a:solidFill>
            <a:srgbClr val="2A2C2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077" y="4445273"/>
            <a:ext cx="157758" cy="12620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2041" y="4403824"/>
            <a:ext cx="818108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 Moat Strength ≈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Proprietary Data Quality × Workflow Integration Depth × AI Execution Velocity × Network Effects Strength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5442719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Challenges: The Democratizing Threat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1808485"/>
            <a:ext cx="216842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Market Bifurcation Reality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074962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Generic AI tools under $50/month suffer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Gross Revenue Retention as low as 23%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catastrophic churn from lack of switching costs.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714503" y="2480667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Specialized, vertically integrated AI solving complex workflows achieves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GRR above 70%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proving defensibility has shifted from data ownership to deep workflow integration.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4714503" y="3068985"/>
            <a:ext cx="3759622" cy="742727"/>
          </a:xfrm>
          <a:prstGeom prst="roundRect">
            <a:avLst>
              <a:gd name="adj" fmla="val 2282"/>
            </a:avLst>
          </a:prstGeom>
          <a:solidFill>
            <a:srgbClr val="4B3F0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463" y="3230314"/>
            <a:ext cx="141163" cy="1129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81587" y="3187154"/>
            <a:ext cx="327957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Investors now view "thin wrapper" AI startups that merely interface with LLM APIs as unfundable — structural defensibility is required.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3B3C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677" y="810295"/>
            <a:ext cx="2642146" cy="35229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1871" y="355699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Strategic Recommendations by Stage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83853" y="1313408"/>
            <a:ext cx="14288" cy="3474393"/>
          </a:xfrm>
          <a:prstGeom prst="roundRect">
            <a:avLst>
              <a:gd name="adj" fmla="val 132553"/>
            </a:avLst>
          </a:prstGeom>
          <a:solidFill>
            <a:srgbClr val="545557"/>
          </a:solidFill>
          <a:ln/>
        </p:spPr>
      </p:sp>
      <p:sp>
        <p:nvSpPr>
          <p:cNvPr id="6" name="Shape 3"/>
          <p:cNvSpPr/>
          <p:nvPr/>
        </p:nvSpPr>
        <p:spPr>
          <a:xfrm>
            <a:off x="711584" y="1448246"/>
            <a:ext cx="378768" cy="14288"/>
          </a:xfrm>
          <a:prstGeom prst="roundRect">
            <a:avLst>
              <a:gd name="adj" fmla="val 132553"/>
            </a:avLst>
          </a:prstGeom>
          <a:solidFill>
            <a:srgbClr val="545557"/>
          </a:solidFill>
          <a:ln/>
        </p:spPr>
      </p:sp>
      <p:sp>
        <p:nvSpPr>
          <p:cNvPr id="7" name="Shape 4"/>
          <p:cNvSpPr/>
          <p:nvPr/>
        </p:nvSpPr>
        <p:spPr>
          <a:xfrm>
            <a:off x="441833" y="1313408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8" name="Text 5"/>
          <p:cNvSpPr/>
          <p:nvPr/>
        </p:nvSpPr>
        <p:spPr>
          <a:xfrm>
            <a:off x="260524" y="1337035"/>
            <a:ext cx="4179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15182" y="1356792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Early Stage (0–18 mo)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15182" y="1621482"/>
            <a:ext cx="4057948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Speed as the moat.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Solve a specific, painful workflow problem. Target tertiary workflows (legal research, clinical notes) as a safer wedge. Demonstrate clear, measurable ROI fast.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11584" y="2554039"/>
            <a:ext cx="378768" cy="14288"/>
          </a:xfrm>
          <a:prstGeom prst="roundRect">
            <a:avLst>
              <a:gd name="adj" fmla="val 132553"/>
            </a:avLst>
          </a:prstGeom>
          <a:solidFill>
            <a:srgbClr val="545557"/>
          </a:solidFill>
          <a:ln/>
        </p:spPr>
      </p:sp>
      <p:sp>
        <p:nvSpPr>
          <p:cNvPr id="12" name="Shape 9"/>
          <p:cNvSpPr/>
          <p:nvPr/>
        </p:nvSpPr>
        <p:spPr>
          <a:xfrm>
            <a:off x="441833" y="2419201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13" name="Text 10"/>
          <p:cNvSpPr/>
          <p:nvPr/>
        </p:nvSpPr>
        <p:spPr>
          <a:xfrm>
            <a:off x="260524" y="2442828"/>
            <a:ext cx="4179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15182" y="2462585"/>
            <a:ext cx="227111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Growth Stage (18–36 mo)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15182" y="2727275"/>
            <a:ext cx="4057948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Build structural moats.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Achieve 99% accuracy through edge-case engineering. Develop proprietary workflow knowledge via forward-deployed engineering. Disrupt incumbents with per-task pricing models.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11584" y="3850779"/>
            <a:ext cx="378768" cy="14288"/>
          </a:xfrm>
          <a:prstGeom prst="roundRect">
            <a:avLst>
              <a:gd name="adj" fmla="val 132553"/>
            </a:avLst>
          </a:prstGeom>
          <a:solidFill>
            <a:srgbClr val="545557"/>
          </a:solidFill>
          <a:ln/>
        </p:spPr>
      </p:sp>
      <p:sp>
        <p:nvSpPr>
          <p:cNvPr id="17" name="Shape 14"/>
          <p:cNvSpPr/>
          <p:nvPr/>
        </p:nvSpPr>
        <p:spPr>
          <a:xfrm>
            <a:off x="441833" y="3715941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18" name="Text 15"/>
          <p:cNvSpPr/>
          <p:nvPr/>
        </p:nvSpPr>
        <p:spPr>
          <a:xfrm>
            <a:off x="260524" y="3739567"/>
            <a:ext cx="4179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215182" y="3759324"/>
            <a:ext cx="209319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Scaling Stage (36+ mo)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15182" y="4024015"/>
            <a:ext cx="4057948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Fortify and expand.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Productize data into benchmarks and premium insights. Implement stringent data governance. Drive operationalization — turn raw data into continuous production automation.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87772"/>
            <a:ext cx="6218634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From Data Hoarding to Orchestration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9540" y="989930"/>
            <a:ext cx="4136008" cy="3419624"/>
          </a:xfrm>
          <a:prstGeom prst="roundRect">
            <a:avLst>
              <a:gd name="adj" fmla="val 583"/>
            </a:avLst>
          </a:prstGeom>
          <a:solidFill>
            <a:srgbClr val="9FA582"/>
          </a:solidFill>
          <a:ln/>
        </p:spPr>
      </p:sp>
      <p:sp>
        <p:nvSpPr>
          <p:cNvPr id="4" name="Text 2"/>
          <p:cNvSpPr/>
          <p:nvPr/>
        </p:nvSpPr>
        <p:spPr>
          <a:xfrm>
            <a:off x="502444" y="1114499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Old Paradigm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444" y="1446758"/>
            <a:ext cx="387020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Accumulate the largest proprietary dataset. Guard it. Win through data exclusivity and scale.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444" y="1970782"/>
            <a:ext cx="387020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Vulnerable to: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synthetic data, foundation models, regulatory constraints, diminishing returns.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8836" y="1114499"/>
            <a:ext cx="219901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Winning Paradigm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38836" y="1446758"/>
            <a:ext cx="394476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Sustainable disruption comes from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strategic orchestration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of complementary assets: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38836" y="1970782"/>
            <a:ext cx="3944764" cy="120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Proprietary workflows + deep integrations</a:t>
            </a:r>
            <a:endParaRPr lang="en-US" sz="10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Closed-loop learning systems</a:t>
            </a:r>
            <a:endParaRPr lang="en-US" sz="10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 AI execution velocity</a:t>
            </a:r>
            <a:endParaRPr lang="en-US" sz="10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Distribution and radical market trust</a:t>
            </a:r>
            <a:endParaRPr lang="en-US" sz="10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culture of continuous operationalization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38836" y="3315221"/>
            <a:ext cx="3944764" cy="954212"/>
          </a:xfrm>
          <a:prstGeom prst="roundRect">
            <a:avLst>
              <a:gd name="adj" fmla="val 2089"/>
            </a:avLst>
          </a:prstGeom>
          <a:solidFill>
            <a:srgbClr val="183A1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1740" y="3512641"/>
            <a:ext cx="166092" cy="132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70736" y="3472979"/>
            <a:ext cx="3379961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McKinsey: Models customized with proprietary data deliver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35–50% better performance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on business-specific tasks.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36562" y="4549676"/>
            <a:ext cx="844227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00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moat is not the data itself — it is the ability to operationalize it faster and deeper than anyone else.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04577"/>
            <a:ext cx="6044059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Technical Implementation for the data moat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823689"/>
            <a:ext cx="7642101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 this technical implementation we have created two model with different dataset, the goal is to show the difference between the models created by high quality dataset and low quality dataset. 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993" y="1552054"/>
            <a:ext cx="5109939" cy="30318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0912" y="4681240"/>
            <a:ext cx="809930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 this figure we get the comparison between two model which were created with the high quality and low quality dataset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66" y="336426"/>
            <a:ext cx="7947794" cy="44705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2026-05-18T05:53:21Z</dcterms:created>
  <dcterms:modified xsi:type="dcterms:W3CDTF">2026-05-18T05:53:21Z</dcterms:modified>
</cp:coreProperties>
</file>